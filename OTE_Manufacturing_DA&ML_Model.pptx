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365760"/>
            <a:ext cx="3291840" cy="3291840"/>
          </a:xfrm>
          <a:prstGeom prst="ellipse">
            <a:avLst/>
          </a:prstGeom>
          <a:solidFill>
            <a:srgbClr val="1282A2">
              <a:alpha val="18000"/>
            </a:srgbClr>
          </a:solidFill>
          <a:ln w="19050">
            <a:solidFill>
              <a:srgbClr val="0ABD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20840" y="868680"/>
            <a:ext cx="2286000" cy="2286000"/>
          </a:xfrm>
          <a:prstGeom prst="ellipse">
            <a:avLst/>
          </a:prstGeom>
          <a:solidFill>
            <a:srgbClr val="0ABDC6">
              <a:alpha val="2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ABD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OTE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5577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Manufacturing Data</a:t>
            </a:r>
            <a:endParaRPr lang="en-US" sz="3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&amp; ML Model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  ·  Quality Prediction  ·  Feature Importance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93008"/>
            <a:ext cx="5486400" cy="1078992"/>
          </a:xfrm>
          <a:prstGeom prst="rect">
            <a:avLst/>
          </a:prstGeom>
          <a:solidFill>
            <a:srgbClr val="1282A2">
              <a:alpha val="12000"/>
            </a:srgbClr>
          </a:solidFill>
          <a:ln w="10160">
            <a:solidFill>
              <a:srgbClr val="0ABD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493008"/>
            <a:ext cx="54864" cy="1078992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529584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BD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TEAM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37856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Anupal Maji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46120" y="37856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2023BCSE07AED073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" y="40416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Taksir Alam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46120" y="4041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2023BCSE07AED081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1792" y="42976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Kshitij Bhardwaj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46120" y="42976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2023BCSE07AED107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| OTE Project Review  ·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Members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82A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OTE PROJECT  —  BCSE07AED  Batch 2023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89888"/>
            <a:ext cx="2651760" cy="685800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61872" y="173736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82A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68833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Anupal Maji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2286000" cy="384048"/>
          </a:xfrm>
          <a:prstGeom prst="rect">
            <a:avLst/>
          </a:prstGeom>
          <a:solidFill>
            <a:srgbClr val="1282A2">
              <a:alpha val="12000"/>
            </a:srgbClr>
          </a:solidFill>
          <a:ln w="7620">
            <a:solidFill>
              <a:srgbClr val="1282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004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8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2023BCSE07AED073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7216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2023–2027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389888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389888"/>
            <a:ext cx="2651760" cy="685800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42232" y="173736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42232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BD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MTA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268833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Md Taksir Alam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429000" y="3200400"/>
            <a:ext cx="2286000" cy="384048"/>
          </a:xfrm>
          <a:prstGeom prst="rect">
            <a:avLst/>
          </a:prstGeom>
          <a:solidFill>
            <a:srgbClr val="0ABDC6">
              <a:alpha val="12000"/>
            </a:srgbClr>
          </a:solidFill>
          <a:ln w="7620">
            <a:solidFill>
              <a:srgbClr val="0ABD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2004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2023BCSE07AED081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37560" y="37216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2023–2027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1389888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389888"/>
            <a:ext cx="2651760" cy="68580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22592" y="173736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22592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AD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KB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17920" y="268833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Kshitij Bhardwaj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309360" y="3200400"/>
            <a:ext cx="2286000" cy="384048"/>
          </a:xfrm>
          <a:prstGeom prst="rect">
            <a:avLst/>
          </a:prstGeom>
          <a:solidFill>
            <a:srgbClr val="F6AD55">
              <a:alpha val="12000"/>
            </a:srgbClr>
          </a:solidFill>
          <a:ln w="7620">
            <a:solidFill>
              <a:srgbClr val="F6AD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2004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2023BCSE07AED107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17920" y="37216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2023–2027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18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Operations &amp; Technology Engineering (OTE)  |  Academic Year 2024–25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42416"/>
            <a:ext cx="402336" cy="402336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42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0241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2527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manufacturing sensor data analysis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709928"/>
            <a:ext cx="402336" cy="402336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09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16916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 cleaning, ML modelling, feature analysis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402336" cy="402336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23591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Overview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5877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sources &amp; structure of production data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044952"/>
            <a:ext cx="402336" cy="402336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30266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2552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normalisation &amp; feature engineering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712464"/>
            <a:ext cx="402336" cy="402336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36941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39227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sensor to prediction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379976"/>
            <a:ext cx="402336" cy="402336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379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43616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Model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45902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approach &amp; hyperparameters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1042416"/>
            <a:ext cx="402336" cy="402336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042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12080" y="10241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12527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Cross-validation, tuning &amp; evaluation strategy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1709928"/>
            <a:ext cx="402336" cy="402336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709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12080" y="16916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Importance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12080" y="1920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factors influencing manufacturing quality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2377440"/>
            <a:ext cx="402336" cy="402336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212080" y="23591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12080" y="25877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model evaluation &amp; error analysis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044952"/>
            <a:ext cx="402336" cy="402336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212080" y="30266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Insights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12080" y="32552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&amp; analytical findings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09160" y="3712464"/>
            <a:ext cx="402336" cy="402336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212080" y="36941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12080" y="39227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benefits &amp; ROI of the model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09160" y="4379976"/>
            <a:ext cx="402336" cy="402336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4379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212080" y="43616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12080" y="45902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next steps for deployment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170432"/>
          </a:xfrm>
          <a:prstGeom prst="rect">
            <a:avLst/>
          </a:prstGeom>
          <a:solidFill>
            <a:srgbClr val="1282A2">
              <a:alpha val="18000"/>
            </a:srgbClr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64008" cy="1170432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industries generate large amounts of sensor data, but analysing this data manually to detect faults or predict product quality is difficult and time-consuming. A simple data analytics model is required to process production data efficiently and identify key factors that affect manufacturing performance.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2743200" cy="228600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6517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BDC6"/>
                </a:solidFill>
              </a:rPr>
              <a:t>⚙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3108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Volume Overload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50215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sensor readings per second exceed human capacity for manual review and analysis.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514600"/>
            <a:ext cx="2743200" cy="228600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6517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BDC6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3108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Delayed Detection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83280" y="350215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identified late lead to defective products, material waste, and costly production downtime.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514600"/>
            <a:ext cx="2743200" cy="228600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6517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BDC6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3108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Predictive Power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09360" y="350215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maintenance approaches fail to anticipate quality issues before they occur on the line.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64008" cy="1170432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62456"/>
            <a:ext cx="530352" cy="530352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62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1430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&amp; Prepare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5087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remove outliers, normalise sensor readings, and engineer meaningful features from raw production logs.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377440"/>
            <a:ext cx="85039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377440"/>
            <a:ext cx="64008" cy="1170432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88336"/>
            <a:ext cx="530352" cy="530352"/>
          </a:xfrm>
          <a:prstGeom prst="ellipse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883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46888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an ML Prediction 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346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Random Forest classifier to predict product output quality (Pass/Fail) and operational fault conditions with high accuracy.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703320"/>
            <a:ext cx="85039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703320"/>
            <a:ext cx="64008" cy="117043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014216"/>
            <a:ext cx="530352" cy="530352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142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79476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Key Influencing Factors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416052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feature importance scores to pinpoint the top sensor variables and process parameters that drive manufacturing performance and quality.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Manufacturing 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1965960" cy="987552"/>
          </a:xfrm>
          <a:prstGeom prst="rect">
            <a:avLst/>
          </a:prstGeom>
          <a:solidFill>
            <a:srgbClr val="0B2545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332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BD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10,000+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Records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68880" y="987552"/>
            <a:ext cx="1965960" cy="987552"/>
          </a:xfrm>
          <a:prstGeom prst="rect">
            <a:avLst/>
          </a:prstGeom>
          <a:solidFill>
            <a:srgbClr val="0B2545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0332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BD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68880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Variables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987552"/>
            <a:ext cx="1965960" cy="987552"/>
          </a:xfrm>
          <a:prstGeom prst="rect">
            <a:avLst/>
          </a:prstGeom>
          <a:solidFill>
            <a:srgbClr val="0B2545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0332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BD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17720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Categories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66560" y="987552"/>
            <a:ext cx="1965960" cy="987552"/>
          </a:xfrm>
          <a:prstGeom prst="rect">
            <a:avLst/>
          </a:prstGeom>
          <a:solidFill>
            <a:srgbClr val="0B2545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0332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BD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66560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Classes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121408"/>
            <a:ext cx="411480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121408"/>
            <a:ext cx="4114800" cy="411480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17627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 Variable Types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6700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Temperature Sensors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28529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Ambient, coolant &amp; machine surface readings (°C)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0358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Pressure Gauges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2186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&amp; pneumatic system pressures (bar/psi)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4015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Vibration Sensors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5844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 &amp; spindle vibration frequencies (Hz)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767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Speed / RPM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39502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Spindle, conveyor belt &amp; motor rotation speeds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133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Voltage / Current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3159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load across manufacturing equipment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4988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Production Rate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6817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produced per hour (cycle time metrics)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121408"/>
            <a:ext cx="411480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2121408"/>
            <a:ext cx="4114800" cy="4114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17627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Data Challenges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28032" y="26700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Missing Values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28032" y="28529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dropouts &amp; network interruptions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28032" y="30358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Outliers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28032" y="32186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readings from sensor malfunction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28032" y="34015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Class Imbalance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28032" y="35844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more 'Pass' records than 'Fail'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28032" y="3767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High Dimensionality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28032" y="39502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features, many redundant/correlated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28032" y="4133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Mixed Data Types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28032" y="43159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sensors + categorical shift data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28032" y="44988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Noise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28032" y="46817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interference &amp; calibration drift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 &amp; Preparation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1481328" cy="19659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7899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490472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Data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 logs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sensors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55648" y="1965960"/>
            <a:ext cx="256032" cy="45720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1024128"/>
            <a:ext cx="1481328" cy="196596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07899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11680" y="1490472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Values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11680" y="2103120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sensor gaps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93008" y="1965960"/>
            <a:ext cx="256032" cy="45720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1024128"/>
            <a:ext cx="1481328" cy="1965960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07899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49040" y="1490472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49040" y="2103120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spike removal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30368" y="1965960"/>
            <a:ext cx="256032" cy="45720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1024128"/>
            <a:ext cx="1481328" cy="1965960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07899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86400" y="1490472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Encode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0" y="2103120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scaling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label encoding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67728" y="1965960"/>
            <a:ext cx="256032" cy="45720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1024128"/>
            <a:ext cx="1481328" cy="196596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107899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23760" y="1490472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223760" y="2103120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averages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218688"/>
            <a:ext cx="406908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218688"/>
            <a:ext cx="64008" cy="1664208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3101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/ Test Split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367588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80% Training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8,000 records used to train the model
</a:t>
            </a:r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20% Testing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2,000 held out for unbiased evaluation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218688"/>
            <a:ext cx="4187952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3218688"/>
            <a:ext cx="64008" cy="1664208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3101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Imbalance Handling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367588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SMOTE Oversampling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Synthetic 'Fail' samples generated to balance classes
</a:t>
            </a:r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 Weights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Penalise misclassification of minority class in training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– End-to-End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234440" cy="13716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0700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84708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PLC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08760" y="1783080"/>
            <a:ext cx="201168" cy="7315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09928" y="1143000"/>
            <a:ext cx="1234440" cy="137160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09928" y="120700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09928" y="184708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MQTT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44368" y="1783080"/>
            <a:ext cx="201168" cy="7315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45536" y="1143000"/>
            <a:ext cx="1234440" cy="1371600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120700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45536" y="184708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Encode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79976" y="1783080"/>
            <a:ext cx="201168" cy="7315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81144" y="1143000"/>
            <a:ext cx="1234440" cy="1371600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81144" y="120700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81144" y="184708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15584" y="1783080"/>
            <a:ext cx="201168" cy="7315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16752" y="1143000"/>
            <a:ext cx="1234440" cy="13716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6752" y="120700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16752" y="184708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251192" y="1783080"/>
            <a:ext cx="201168" cy="7315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52360" y="1143000"/>
            <a:ext cx="1234440" cy="1371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120700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52360" y="184708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Report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Alerts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2724912"/>
            <a:ext cx="418795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724912"/>
            <a:ext cx="64008" cy="107899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2798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Data Layer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309067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continuously stream temperature, pressure, vibration, RPM, and voltage readings to a central data broker (MQTT/OPC-UA).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36592" y="2724912"/>
            <a:ext cx="418795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36592" y="2724912"/>
            <a:ext cx="64008" cy="1078992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01184" y="2798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Processing Layer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01184" y="309067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streams are ingested, missing values imputed, outliers removed with IQR method, and data normalised using Min-Max scaling.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959352"/>
            <a:ext cx="418795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959352"/>
            <a:ext cx="64008" cy="107899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4032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Intelligence Layer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8912" y="432511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(rolling averages, lag features) fed into a pre-trained Random Forest to generate real-time Pass/Fail predictions.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36592" y="3959352"/>
            <a:ext cx="418795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36592" y="3959352"/>
            <a:ext cx="64008" cy="107899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01184" y="4032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 Presentation Layer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01184" y="432511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and feature importance scores surfaced on a Grafana dashboard with configurable threshold alerts for operations managers.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Model – Random Forest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0ABD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BD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Random Forest?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219456" cy="219456"/>
          </a:xfrm>
          <a:prstGeom prst="ellipse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453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Handles non-linearity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8013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complex interactions between sensor variables without manual feature engineering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212848"/>
            <a:ext cx="219456" cy="219456"/>
          </a:xfrm>
          <a:prstGeom prst="ellipse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854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 to outliers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24414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reduces sensitivity to noisy readings common in industrial sensor data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852928"/>
            <a:ext cx="219456" cy="219456"/>
          </a:xfrm>
          <a:prstGeom prst="ellipse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8254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importance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30815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ranking of variable contribution to each prediction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493008"/>
            <a:ext cx="219456" cy="219456"/>
          </a:xfrm>
          <a:prstGeom prst="ellipse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4655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scaling required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37216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— unaffected by different sensor unit scales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4133088"/>
            <a:ext cx="219456" cy="219456"/>
          </a:xfrm>
          <a:prstGeom prst="ellipse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1056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overfitting risk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4361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200 decorrelated trees generalises well to new data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1005840"/>
            <a:ext cx="4206240" cy="1737360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F6AD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AD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Hyperparameters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15179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0" y="15179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17556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0" y="17556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(controlled complexity)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19933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19933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223113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75120" y="223113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'balanced'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2468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0" y="2468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(reproducible)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2880360"/>
            <a:ext cx="4206240" cy="1965960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38A1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9718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&amp; Validation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754880" y="3401568"/>
            <a:ext cx="164592" cy="164592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3364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on training set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675888"/>
            <a:ext cx="164592" cy="164592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3639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for optimal hyperparameters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950208"/>
            <a:ext cx="164592" cy="164592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3913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trained on full training split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4224528"/>
            <a:ext cx="164592" cy="164592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4187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held-out test set (20%)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4498848"/>
            <a:ext cx="164592" cy="164592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0" y="4462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F1, AUC-ROC, Accuracy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Training &amp; Cross-Validation Strategy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5-Fold Cross Validation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41248" cy="420624"/>
          </a:xfrm>
          <a:prstGeom prst="rect">
            <a:avLst/>
          </a:prstGeom>
          <a:solidFill>
            <a:srgbClr val="E53E3E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17320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216152" y="1417320"/>
            <a:ext cx="841248" cy="420624"/>
          </a:xfrm>
          <a:prstGeom prst="rect">
            <a:avLst/>
          </a:prstGeom>
          <a:solidFill>
            <a:srgbClr val="CBD5E0">
              <a:alpha val="4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1417320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12264" y="1417320"/>
            <a:ext cx="841248" cy="420624"/>
          </a:xfrm>
          <a:prstGeom prst="rect">
            <a:avLst/>
          </a:prstGeom>
          <a:solidFill>
            <a:srgbClr val="CBD5E0">
              <a:alpha val="4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12264" y="1417320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008376" y="1417320"/>
            <a:ext cx="841248" cy="420624"/>
          </a:xfrm>
          <a:prstGeom prst="rect">
            <a:avLst/>
          </a:prstGeom>
          <a:solidFill>
            <a:srgbClr val="CBD5E0">
              <a:alpha val="4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08376" y="1417320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04488" y="1417320"/>
            <a:ext cx="841248" cy="420624"/>
          </a:xfrm>
          <a:prstGeom prst="rect">
            <a:avLst/>
          </a:prstGeom>
          <a:solidFill>
            <a:srgbClr val="CBD5E0">
              <a:alpha val="4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04488" y="1417320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37760" y="14356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892808"/>
            <a:ext cx="841248" cy="420624"/>
          </a:xfrm>
          <a:prstGeom prst="rect">
            <a:avLst/>
          </a:prstGeom>
          <a:solidFill>
            <a:srgbClr val="CBD5E0">
              <a:alpha val="4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89280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216152" y="1892808"/>
            <a:ext cx="841248" cy="420624"/>
          </a:xfrm>
          <a:prstGeom prst="rect">
            <a:avLst/>
          </a:prstGeom>
          <a:solidFill>
            <a:srgbClr val="F6AD55"/>
          </a:solidFill>
          <a:ln w="6350">
            <a:solidFill>
              <a:srgbClr val="F6AD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16152" y="189280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112264" y="1892808"/>
            <a:ext cx="841248" cy="420624"/>
          </a:xfrm>
          <a:prstGeom prst="rect">
            <a:avLst/>
          </a:prstGeom>
          <a:solidFill>
            <a:srgbClr val="CBD5E0">
              <a:alpha val="4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12264" y="189280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008376" y="1892808"/>
            <a:ext cx="841248" cy="420624"/>
          </a:xfrm>
          <a:prstGeom prst="rect">
            <a:avLst/>
          </a:prstGeom>
          <a:solidFill>
            <a:srgbClr val="CBD5E0">
              <a:alpha val="4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08376" y="189280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904488" y="1892808"/>
            <a:ext cx="841248" cy="420624"/>
          </a:xfrm>
          <a:prstGeom prst="rect">
            <a:avLst/>
          </a:prstGeom>
          <a:solidFill>
            <a:srgbClr val="CBD5E0">
              <a:alpha val="4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04488" y="189280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37760" y="19110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368296"/>
            <a:ext cx="841248" cy="420624"/>
          </a:xfrm>
          <a:prstGeom prst="rect">
            <a:avLst/>
          </a:prstGeom>
          <a:solidFill>
            <a:srgbClr val="CBD5E0">
              <a:alpha val="4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36829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216152" y="2368296"/>
            <a:ext cx="841248" cy="420624"/>
          </a:xfrm>
          <a:prstGeom prst="rect">
            <a:avLst/>
          </a:prstGeom>
          <a:solidFill>
            <a:srgbClr val="CBD5E0">
              <a:alpha val="4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16152" y="236829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112264" y="2368296"/>
            <a:ext cx="841248" cy="420624"/>
          </a:xfrm>
          <a:prstGeom prst="rect">
            <a:avLst/>
          </a:prstGeom>
          <a:solidFill>
            <a:srgbClr val="1282A2"/>
          </a:solidFill>
          <a:ln w="6350">
            <a:solidFill>
              <a:srgbClr val="1282A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12264" y="236829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08376" y="2368296"/>
            <a:ext cx="841248" cy="420624"/>
          </a:xfrm>
          <a:prstGeom prst="rect">
            <a:avLst/>
          </a:prstGeom>
          <a:solidFill>
            <a:srgbClr val="CBD5E0">
              <a:alpha val="4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08376" y="236829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904488" y="2368296"/>
            <a:ext cx="841248" cy="420624"/>
          </a:xfrm>
          <a:prstGeom prst="rect">
            <a:avLst/>
          </a:prstGeom>
          <a:solidFill>
            <a:srgbClr val="CBD5E0">
              <a:alpha val="4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04488" y="236829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37760" y="23865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8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2843784"/>
            <a:ext cx="841248" cy="420624"/>
          </a:xfrm>
          <a:prstGeom prst="rect">
            <a:avLst/>
          </a:prstGeom>
          <a:solidFill>
            <a:srgbClr val="CBD5E0">
              <a:alpha val="4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284378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216152" y="2843784"/>
            <a:ext cx="841248" cy="420624"/>
          </a:xfrm>
          <a:prstGeom prst="rect">
            <a:avLst/>
          </a:prstGeom>
          <a:solidFill>
            <a:srgbClr val="CBD5E0">
              <a:alpha val="4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16152" y="284378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112264" y="2843784"/>
            <a:ext cx="841248" cy="420624"/>
          </a:xfrm>
          <a:prstGeom prst="rect">
            <a:avLst/>
          </a:prstGeom>
          <a:solidFill>
            <a:srgbClr val="CBD5E0">
              <a:alpha val="4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12264" y="284378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008376" y="2843784"/>
            <a:ext cx="841248" cy="420624"/>
          </a:xfrm>
          <a:prstGeom prst="rect">
            <a:avLst/>
          </a:prstGeom>
          <a:solidFill>
            <a:srgbClr val="0ABDC6"/>
          </a:solidFill>
          <a:ln w="6350">
            <a:solidFill>
              <a:srgbClr val="0ABDC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08376" y="284378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904488" y="2843784"/>
            <a:ext cx="841248" cy="420624"/>
          </a:xfrm>
          <a:prstGeom prst="rect">
            <a:avLst/>
          </a:prstGeom>
          <a:solidFill>
            <a:srgbClr val="CBD5E0">
              <a:alpha val="4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04488" y="284378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937760" y="28620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0040" y="3319272"/>
            <a:ext cx="841248" cy="420624"/>
          </a:xfrm>
          <a:prstGeom prst="rect">
            <a:avLst/>
          </a:prstGeom>
          <a:solidFill>
            <a:srgbClr val="CBD5E0">
              <a:alpha val="4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331927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216152" y="3319272"/>
            <a:ext cx="841248" cy="420624"/>
          </a:xfrm>
          <a:prstGeom prst="rect">
            <a:avLst/>
          </a:prstGeom>
          <a:solidFill>
            <a:srgbClr val="CBD5E0">
              <a:alpha val="4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16152" y="331927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112264" y="3319272"/>
            <a:ext cx="841248" cy="420624"/>
          </a:xfrm>
          <a:prstGeom prst="rect">
            <a:avLst/>
          </a:prstGeom>
          <a:solidFill>
            <a:srgbClr val="CBD5E0">
              <a:alpha val="4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12264" y="331927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008376" y="3319272"/>
            <a:ext cx="841248" cy="420624"/>
          </a:xfrm>
          <a:prstGeom prst="rect">
            <a:avLst/>
          </a:prstGeom>
          <a:solidFill>
            <a:srgbClr val="CBD5E0">
              <a:alpha val="4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08376" y="331927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904488" y="3319272"/>
            <a:ext cx="841248" cy="420624"/>
          </a:xfrm>
          <a:prstGeom prst="rect">
            <a:avLst/>
          </a:prstGeom>
          <a:solidFill>
            <a:srgbClr val="38A169"/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04488" y="331927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937760" y="33375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20040" y="3657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Grid Search – Top Parameter Combinations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005072"/>
          <a:ext cx="8503920" cy="96012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1645920"/>
                <a:gridCol w="1737360"/>
                <a:gridCol w="1737360"/>
              </a:tblGrid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2" name="Shape 59"/>
          <p:cNvSpPr/>
          <p:nvPr/>
        </p:nvSpPr>
        <p:spPr>
          <a:xfrm>
            <a:off x="6172200" y="1051560"/>
            <a:ext cx="2651760" cy="3401568"/>
          </a:xfrm>
          <a:prstGeom prst="rect">
            <a:avLst/>
          </a:prstGeom>
          <a:solidFill>
            <a:srgbClr val="0B2545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172200" y="1051560"/>
            <a:ext cx="2651760" cy="384048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263640" y="11064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6291072" y="1563624"/>
            <a:ext cx="164592" cy="164592"/>
          </a:xfrm>
          <a:prstGeom prst="ellipse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6537960" y="1527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CV Accuracy: 93.1% ± 0.8%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6291072" y="2011680"/>
            <a:ext cx="164592" cy="164592"/>
          </a:xfrm>
          <a:prstGeom prst="ellipse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537960" y="19751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variance → model stable across folds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6291072" y="2459736"/>
            <a:ext cx="164592" cy="164592"/>
          </a:xfrm>
          <a:prstGeom prst="ellipse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537960" y="24231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Optimal: 200 trees, depth=15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6291072" y="2907792"/>
            <a:ext cx="164592" cy="164592"/>
          </a:xfrm>
          <a:prstGeom prst="ellipse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537960" y="28712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 tried 60 combinations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6291072" y="3355848"/>
            <a:ext cx="164592" cy="164592"/>
          </a:xfrm>
          <a:prstGeom prst="ellipse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537960" y="33192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on minority class: 92.6%</a:t>
            </a:r>
            <a:endParaRPr lang="en-US" sz="950" dirty="0"/>
          </a:p>
        </p:txBody>
      </p:sp>
      <p:sp>
        <p:nvSpPr>
          <p:cNvPr id="75" name="Shape 72"/>
          <p:cNvSpPr/>
          <p:nvPr/>
        </p:nvSpPr>
        <p:spPr>
          <a:xfrm>
            <a:off x="6291072" y="3803904"/>
            <a:ext cx="164592" cy="164592"/>
          </a:xfrm>
          <a:prstGeom prst="ellipse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6537960" y="37673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consistently &gt; 0.96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Importance – Key Influencing Factors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607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Temperature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017520" y="1060704"/>
            <a:ext cx="4572000" cy="256032"/>
          </a:xfrm>
          <a:prstGeom prst="rect">
            <a:avLst/>
          </a:prstGeom>
          <a:solidFill>
            <a:srgbClr val="CBD5E0">
              <a:alpha val="30000"/>
            </a:srgbClr>
          </a:solidFill>
          <a:ln w="12700">
            <a:solidFill>
              <a:srgbClr val="CBD5E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1060704"/>
            <a:ext cx="4572000" cy="25603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2672" y="106070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4813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Spindle Vibration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17520" y="1481328"/>
            <a:ext cx="4572000" cy="256032"/>
          </a:xfrm>
          <a:prstGeom prst="rect">
            <a:avLst/>
          </a:prstGeom>
          <a:solidFill>
            <a:srgbClr val="CBD5E0">
              <a:alpha val="30000"/>
            </a:srgbClr>
          </a:solidFill>
          <a:ln w="12700">
            <a:solidFill>
              <a:srgbClr val="CBD5E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1481328"/>
            <a:ext cx="3740727" cy="25603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1399" y="148132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9019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Pressure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17520" y="1901952"/>
            <a:ext cx="4572000" cy="256032"/>
          </a:xfrm>
          <a:prstGeom prst="rect">
            <a:avLst/>
          </a:prstGeom>
          <a:solidFill>
            <a:srgbClr val="CBD5E0">
              <a:alpha val="30000"/>
            </a:srgbClr>
          </a:solidFill>
          <a:ln w="12700">
            <a:solidFill>
              <a:srgbClr val="CBD5E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1901952"/>
            <a:ext cx="3117273" cy="256032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7945" y="19019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3225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Spindle RPM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017520" y="2322576"/>
            <a:ext cx="4572000" cy="256032"/>
          </a:xfrm>
          <a:prstGeom prst="rect">
            <a:avLst/>
          </a:prstGeom>
          <a:solidFill>
            <a:srgbClr val="CBD5E0">
              <a:alpha val="30000"/>
            </a:srgbClr>
          </a:solidFill>
          <a:ln w="12700">
            <a:solidFill>
              <a:srgbClr val="CBD5E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2322576"/>
            <a:ext cx="2701636" cy="256032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92308" y="232257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743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Coolant Flow Rate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17520" y="2743200"/>
            <a:ext cx="4572000" cy="256032"/>
          </a:xfrm>
          <a:prstGeom prst="rect">
            <a:avLst/>
          </a:prstGeom>
          <a:solidFill>
            <a:srgbClr val="CBD5E0">
              <a:alpha val="30000"/>
            </a:srgbClr>
          </a:solidFill>
          <a:ln w="12700">
            <a:solidFill>
              <a:srgbClr val="CBD5E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17520" y="2743200"/>
            <a:ext cx="2078182" cy="25603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8854" y="274320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31638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Supply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017520" y="3163824"/>
            <a:ext cx="4572000" cy="256032"/>
          </a:xfrm>
          <a:prstGeom prst="rect">
            <a:avLst/>
          </a:prstGeom>
          <a:solidFill>
            <a:srgbClr val="CBD5E0">
              <a:alpha val="30000"/>
            </a:srgbClr>
          </a:solidFill>
          <a:ln w="12700">
            <a:solidFill>
              <a:srgbClr val="CBD5E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7520" y="3163824"/>
            <a:ext cx="1662545" cy="25603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3217" y="316382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35844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Rate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017520" y="3584448"/>
            <a:ext cx="4572000" cy="256032"/>
          </a:xfrm>
          <a:prstGeom prst="rect">
            <a:avLst/>
          </a:prstGeom>
          <a:solidFill>
            <a:srgbClr val="CBD5E0">
              <a:alpha val="30000"/>
            </a:srgbClr>
          </a:solidFill>
          <a:ln w="12700">
            <a:solidFill>
              <a:srgbClr val="CBD5E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17520" y="3584448"/>
            <a:ext cx="1454727" cy="256032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45399" y="3584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4005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Humidity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017520" y="4005072"/>
            <a:ext cx="4572000" cy="256032"/>
          </a:xfrm>
          <a:prstGeom prst="rect">
            <a:avLst/>
          </a:prstGeom>
          <a:solidFill>
            <a:srgbClr val="CBD5E0">
              <a:alpha val="30000"/>
            </a:srgbClr>
          </a:solidFill>
          <a:ln w="12700">
            <a:solidFill>
              <a:srgbClr val="CBD5E0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005072"/>
            <a:ext cx="831273" cy="2560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21945" y="400507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4256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 Deviation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017520" y="4425696"/>
            <a:ext cx="4572000" cy="256032"/>
          </a:xfrm>
          <a:prstGeom prst="rect">
            <a:avLst/>
          </a:prstGeom>
          <a:solidFill>
            <a:srgbClr val="CBD5E0">
              <a:alpha val="30000"/>
            </a:srgbClr>
          </a:solidFill>
          <a:ln w="12700">
            <a:solidFill>
              <a:srgbClr val="CBD5E0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17520" y="4425696"/>
            <a:ext cx="415636" cy="2560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06308" y="442569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654296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Top 3 drivers: Machine Temperature (22%), Spindle Vibration (18%), and Hydraulic Pressure (15%) — together account for 55% of predictive power.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 &amp; Model Evaluation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5303520" cy="3291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024128"/>
            <a:ext cx="2011680" cy="457200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1024128"/>
            <a:ext cx="2194560" cy="4572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81328"/>
            <a:ext cx="1097280" cy="1417320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898648"/>
            <a:ext cx="1097280" cy="14173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024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Predicted PASS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1024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Predicted FAIL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1097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898648"/>
            <a:ext cx="1097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63040" y="1481328"/>
            <a:ext cx="2011680" cy="1417320"/>
          </a:xfrm>
          <a:prstGeom prst="rect">
            <a:avLst/>
          </a:prstGeom>
          <a:solidFill>
            <a:srgbClr val="38A169">
              <a:alpha val="20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17373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1820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463040" y="23500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1481328"/>
            <a:ext cx="2194560" cy="1417320"/>
          </a:xfrm>
          <a:prstGeom prst="rect">
            <a:avLst/>
          </a:prstGeom>
          <a:solidFill>
            <a:srgbClr val="F6AD55">
              <a:alpha val="20000"/>
            </a:srgbClr>
          </a:solidFill>
          <a:ln w="6350">
            <a:solidFill>
              <a:srgbClr val="F6AD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737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6AD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474720" y="2350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63040" y="2898648"/>
            <a:ext cx="2011680" cy="1417320"/>
          </a:xfrm>
          <a:prstGeom prst="rect">
            <a:avLst/>
          </a:prstGeom>
          <a:solidFill>
            <a:srgbClr val="F6AD55">
              <a:alpha val="20000"/>
            </a:srgbClr>
          </a:solidFill>
          <a:ln w="6350">
            <a:solidFill>
              <a:srgbClr val="F6AD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3154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6AD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128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463040" y="37673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2898648"/>
            <a:ext cx="2194560" cy="1417320"/>
          </a:xfrm>
          <a:prstGeom prst="rect">
            <a:avLst/>
          </a:prstGeom>
          <a:solidFill>
            <a:srgbClr val="1282A2">
              <a:alpha val="20000"/>
            </a:srgbClr>
          </a:solidFill>
          <a:ln w="6350">
            <a:solidFill>
              <a:srgbClr val="1282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154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82A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1900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474720" y="3767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8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97880" y="1024128"/>
            <a:ext cx="2971800" cy="3291840"/>
          </a:xfrm>
          <a:prstGeom prst="rect">
            <a:avLst/>
          </a:prstGeom>
          <a:solidFill>
            <a:srgbClr val="0B2545"/>
          </a:solidFill>
          <a:ln w="10160">
            <a:solidFill>
              <a:srgbClr val="1282A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97880" y="1024128"/>
            <a:ext cx="2971800" cy="411480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088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Derived Metrics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07608" y="15727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07608" y="1572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07608" y="18288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(TP+TN)/Total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007608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07608" y="2103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91.8%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007608" y="23591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TP/(TP+FP)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007608" y="2633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007608" y="2633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93.5%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007608" y="2889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TP/(TP+FN)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007608" y="31638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Score: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007608" y="31638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92.6%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007608" y="34198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2×P×R/(P+R)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007608" y="3694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Specificity: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007608" y="3694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92.6%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007608" y="39502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TN/(TN+FP)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65760" y="4526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= 4,000 samples (2,000 PASS + 2,000 FAIL after SMOTE balancing)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Results &amp; Key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36192" cy="1234440"/>
          </a:xfrm>
          <a:prstGeom prst="rect">
            <a:avLst/>
          </a:prstGeom>
          <a:solidFill>
            <a:srgbClr val="38A169">
              <a:alpha val="85000"/>
            </a:srgbClr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7899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94.2%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 predictions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93392" y="1005840"/>
            <a:ext cx="1536192" cy="1234440"/>
          </a:xfrm>
          <a:prstGeom prst="rect">
            <a:avLst/>
          </a:prstGeom>
          <a:solidFill>
            <a:srgbClr val="1282A2">
              <a:alpha val="85000"/>
            </a:srgbClr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107899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91.8%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993392" y="166420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93392" y="192024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alarms that are real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12464" y="1005840"/>
            <a:ext cx="1536192" cy="1234440"/>
          </a:xfrm>
          <a:prstGeom prst="rect">
            <a:avLst/>
          </a:prstGeom>
          <a:solidFill>
            <a:srgbClr val="0ABDC6">
              <a:alpha val="85000"/>
            </a:srgbClr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2464" y="107899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93.5%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712464" y="166420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12464" y="192024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faults correctly caught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31536" y="1005840"/>
            <a:ext cx="1536192" cy="1234440"/>
          </a:xfrm>
          <a:prstGeom prst="rect">
            <a:avLst/>
          </a:prstGeom>
          <a:solidFill>
            <a:srgbClr val="F6AD55">
              <a:alpha val="85000"/>
            </a:srgbClr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1536" y="107899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92.6%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431536" y="166420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31536" y="192024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 &amp; 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150608" y="1005840"/>
            <a:ext cx="1536192" cy="1234440"/>
          </a:xfrm>
          <a:prstGeom prst="rect">
            <a:avLst/>
          </a:prstGeom>
          <a:solidFill>
            <a:srgbClr val="E53E3E">
              <a:alpha val="85000"/>
            </a:srgbClr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107899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0.974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150608" y="166420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AUC-ROC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50608" y="192024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power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BD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Analytical Insights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74320" y="2880360"/>
            <a:ext cx="2788920" cy="192024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94436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BD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🌡  Temperature is the Leading Predictor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438144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temperature above 78°C correlates with a 3× increase in fault probability. Real-time alerts at this threshold could prevent 60% of documented failures.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2880360"/>
            <a:ext cx="2788920" cy="192024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294436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BD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📳  Vibration Precedes Faults by ~12 mins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37560" y="3438144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vibration signatures appear 10–15 minutes before visible quality defects — providing a critical predictive maintenance window.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0" y="2880360"/>
            <a:ext cx="2788920" cy="192024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94436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BD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💧  Coolant Flow Has Non-Linear Effect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3438144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too-low AND too-high coolant flow rates degrade quality. Optimal range: 4.5–6.2 L/min; outside this range the defect rate rises 40%.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 &amp; Operational Benefits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65960" cy="10515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~60%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undetected faults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965960" cy="105156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051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1600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defective product rate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1965960" cy="1051560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051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min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1600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window for faults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66560" y="1005840"/>
            <a:ext cx="1965960" cy="105156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051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 ROI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66560" y="1600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rework &amp; downtime costs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194560"/>
            <a:ext cx="274320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194560"/>
            <a:ext cx="64008" cy="1353312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28600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Maintenance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" y="263347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reactive to predictive maintenance — schedule repairs in the 12-minute window before fault escalation, reducing unplanned downtime by an estimated 55%.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2194560"/>
            <a:ext cx="274320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194560"/>
            <a:ext cx="64008" cy="135331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228600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Assurance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10712" y="263347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prediction at production time allows immediate diversion of defective batches — preventing downstream waste and customer returns.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72200" y="2194560"/>
            <a:ext cx="274320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194560"/>
            <a:ext cx="64008" cy="1353312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228600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Optimisation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36792" y="263347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reveals actionable control points: maintaining temperature below 78°C and coolant flow at 4.5–6.2 L/min delivers the greatest quality gains.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675888"/>
            <a:ext cx="274320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675888"/>
            <a:ext cx="64008" cy="135331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" y="3767328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Reduction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4632" y="4114800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defect rates, fewer emergency repairs, and reduced scrap material translate directly to reduced cost-of-quality and improved operating margins.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46120" y="3675888"/>
            <a:ext cx="274320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3675888"/>
            <a:ext cx="64008" cy="135331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10712" y="3767328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 Decision Support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410712" y="4114800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surfaces plain-language alerts and top feature scores — empowering floor operators to act on predictions without data science expertise.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72200" y="3675888"/>
            <a:ext cx="274320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72200" y="3675888"/>
            <a:ext cx="64008" cy="135331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36792" y="3767328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336792" y="4114800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architecture supports extension to additional production lines, new sensor types, and deeper models (LSTM/CNN) with minimal re-engineering.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1828800"/>
            <a:ext cx="3474720" cy="3474720"/>
          </a:xfrm>
          <a:prstGeom prst="ellipse">
            <a:avLst/>
          </a:prstGeom>
          <a:solidFill>
            <a:srgbClr val="1282A2">
              <a:alpha val="16000"/>
            </a:srgbClr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0ABDC6">
              <a:alpha val="12000"/>
            </a:srgbClr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11155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 Project — Manufacturing Data Analytics &amp; ML 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1737360" cy="868680"/>
          </a:xfrm>
          <a:prstGeom prst="rect">
            <a:avLst/>
          </a:prstGeom>
          <a:solidFill>
            <a:srgbClr val="1282A2">
              <a:alpha val="22000"/>
            </a:srgbClr>
          </a:solidFill>
          <a:ln w="8890">
            <a:solidFill>
              <a:srgbClr val="0AB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BD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94.2%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33472" y="1600200"/>
            <a:ext cx="1737360" cy="868680"/>
          </a:xfrm>
          <a:prstGeom prst="rect">
            <a:avLst/>
          </a:prstGeom>
          <a:solidFill>
            <a:srgbClr val="1282A2">
              <a:alpha val="22000"/>
            </a:srgbClr>
          </a:solidFill>
          <a:ln w="8890">
            <a:solidFill>
              <a:srgbClr val="0ABD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BD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0.974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33472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26864" y="1600200"/>
            <a:ext cx="1737360" cy="868680"/>
          </a:xfrm>
          <a:prstGeom prst="rect">
            <a:avLst/>
          </a:prstGeom>
          <a:solidFill>
            <a:srgbClr val="1282A2">
              <a:alpha val="22000"/>
            </a:srgbClr>
          </a:solidFill>
          <a:ln w="8890">
            <a:solidFill>
              <a:srgbClr val="0ABD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BD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26864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Coverage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20256" y="1600200"/>
            <a:ext cx="1737360" cy="868680"/>
          </a:xfrm>
          <a:prstGeom prst="rect">
            <a:avLst/>
          </a:prstGeom>
          <a:solidFill>
            <a:srgbClr val="1282A2">
              <a:alpha val="22000"/>
            </a:srgbClr>
          </a:solidFill>
          <a:ln w="8890">
            <a:solidFill>
              <a:srgbClr val="0ABD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0256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BD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25+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20256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2633472"/>
            <a:ext cx="804672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0ABD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633472"/>
            <a:ext cx="64008" cy="1691640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26974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BD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3063240"/>
            <a:ext cx="384048" cy="384048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52728" y="30723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Anupal Maji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252728" y="3337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2023BCSE07AED073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10712" y="3063240"/>
            <a:ext cx="384048" cy="384048"/>
          </a:xfrm>
          <a:prstGeom prst="ellipse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MTA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86200" y="30723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Md Taksir Alam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886200" y="3337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2023BCSE07AED081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44184" y="3063240"/>
            <a:ext cx="384048" cy="384048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44184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19672" y="30723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Kshitij Bhardwaj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519672" y="3337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2023BCSE07AED107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14400" y="44988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  |  BCSE07AED  ·  2024–25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OTE Project – Manufacturing Data Analytics</dc:title>
  <dc:subject>PptxGenJS Presentation</dc:subject>
  <dc:creator>PptxGenJS</dc:creator>
  <cp:lastModifiedBy>PptxGenJS</cp:lastModifiedBy>
  <cp:revision>1</cp:revision>
  <dcterms:created xsi:type="dcterms:W3CDTF">2026-04-09T10:42:04Z</dcterms:created>
  <dcterms:modified xsi:type="dcterms:W3CDTF">2026-04-09T10:42:04Z</dcterms:modified>
</cp:coreProperties>
</file>